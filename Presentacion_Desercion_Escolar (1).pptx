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Correlación</c:v>
                </c:pt>
              </c:strCache>
            </c:strRef>
          </c:tx>
          <c:spPr>
            <a:solidFill>
              <a:srgbClr val="0F6E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Acceso a internet</c:v>
                  </c:pt>
                  <c:pt idx="1">
                    <c:v>Apoyo familiar</c:v>
                  </c:pt>
                  <c:pt idx="2">
                    <c:v>Nivel socioeconómico</c:v>
                  </c:pt>
                  <c:pt idx="3">
                    <c:v>Reprobaciones previas</c:v>
                  </c:pt>
                  <c:pt idx="4">
                    <c:v>Promedio calificaciones</c:v>
                  </c:pt>
                  <c:pt idx="5">
                    <c:v>Tasa de asistencia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-0.22</c:v>
                </c:pt>
                <c:pt idx="1">
                  <c:v>-0.39</c:v>
                </c:pt>
                <c:pt idx="2">
                  <c:v>-0.41</c:v>
                </c:pt>
                <c:pt idx="3">
                  <c:v>0.57</c:v>
                </c:pt>
                <c:pt idx="4">
                  <c:v>-0.62</c:v>
                </c:pt>
                <c:pt idx="5">
                  <c:v>-0.68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Desertó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Asistencia</c:v>
                  </c:pt>
                  <c:pt idx="1">
                    <c:v>Calificación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55.3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Desertó</c:v>
                </c:pt>
              </c:strCache>
            </c:strRef>
          </c:tx>
          <c:spPr>
            <a:solidFill>
              <a:srgbClr val="5EC9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Asistencia</c:v>
                  </c:pt>
                  <c:pt idx="1">
                    <c:v>Calificación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</c:v>
                </c:pt>
                <c:pt idx="1">
                  <c:v>71.8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Métricas clave por modelo (conjunto de prueba)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</c:v>
                  </c:pt>
                  <c:pt idx="1">
                    <c:v>F1-Score</c:v>
                  </c:pt>
                  <c:pt idx="2">
                    <c:v>AUC-ROC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0.724</c:v>
                </c:pt>
                <c:pt idx="1">
                  <c:v>0.663</c:v>
                </c:pt>
                <c:pt idx="2">
                  <c:v>0.831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Árbol de Decisión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</c:v>
                  </c:pt>
                  <c:pt idx="1">
                    <c:v>F1-Score</c:v>
                  </c:pt>
                  <c:pt idx="2">
                    <c:v>AUC-ROC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0.798</c:v>
                </c:pt>
                <c:pt idx="1">
                  <c:v>0.739</c:v>
                </c:pt>
                <c:pt idx="2">
                  <c:v>0.864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F6E8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Recall</c:v>
                  </c:pt>
                  <c:pt idx="1">
                    <c:v>F1-Score</c:v>
                  </c:pt>
                  <c:pt idx="2">
                    <c:v>AUC-ROC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0.881</c:v>
                </c:pt>
                <c:pt idx="1">
                  <c:v>0.829</c:v>
                </c:pt>
                <c:pt idx="2">
                  <c:v>0.921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F6E8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Beca</c:v>
                  </c:pt>
                  <c:pt idx="1">
                    <c:v>Acceso a internet</c:v>
                  </c:pt>
                  <c:pt idx="2">
                    <c:v>Trabaja el estudiante</c:v>
                  </c:pt>
                  <c:pt idx="3">
                    <c:v>Incidencias disciplinarias</c:v>
                  </c:pt>
                  <c:pt idx="4">
                    <c:v>Nivel socioeconómico</c:v>
                  </c:pt>
                  <c:pt idx="5">
                    <c:v>Reprobaciones previas</c:v>
                  </c:pt>
                  <c:pt idx="6">
                    <c:v>Promedio calificaciones</c:v>
                  </c:pt>
                  <c:pt idx="7">
                    <c:v>Tasa de asistencia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0.07</c:v>
                </c:pt>
                <c:pt idx="4">
                  <c:v>0.09</c:v>
                </c:pt>
                <c:pt idx="5">
                  <c:v>0.168</c:v>
                </c:pt>
                <c:pt idx="6">
                  <c:v>0.221</c:v>
                </c:pt>
                <c:pt idx="7">
                  <c:v>0.273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inicial. Presentar el título del proyecto, la asignatura y el contexto general del Proyecto Final Integrador.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contexto del problema, la pregunta de investigación y el objetivo general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cinco objetivos específicos y describir quiénes se benefician directa e indirectamente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el tamaño del dataset, la proporción de deserción y mostrar las variables más correlacionadas.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los problemas de calidad de datos detectados, comparar promedios entre grupos y resumir las técnicas de preprocesamiento.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las tres métricas clave entre los tres modelos y justificar la selección del Random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cuáles son las variables más influyentes y su coherencia con la literatura especializada.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flujo del sistema de alerta: cómo cada probabilidad se traduce en una acción institucional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matriz de confusión, su interpretación operativa y los principales hallazgos del análisis.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cuatro riesgos éticos identificados con datos concretos del análisis de equidad.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las cinco salvaguardas institucionales para un uso ético y responsable del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las conclusiones principales y presentar las líneas de trabajo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presentación, agradecimiento y apertura a preguntas del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0F6E8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5EC9B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5E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INTEGRADOR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Predictivo para la Identificación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Riesgo de Deserción Escolar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Sistema de Alerta Temprana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5029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3434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Maestría en Inteligencia Artificial Aplicada a la Educación e Investigación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Asignatura: Fundamentos de IA y Aprendizaje Automático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C9B5"/>
                </a:solidFill>
              </a:rPr>
              <a:t>Profesor: Dr. Darwin Muñoz, Ph.D  |  Junio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Formulación del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deserción escolar afecta a más del 20% de los estudiantes de secundaria en R.D.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intervenciones suelen ocurrir cuando el abandono ya ocurrió.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central: ¿Puede un modelo de ML predecir el riesgo y activar una alerta a tiempo?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14300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18745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modelo de Machine Learning que identifique factores de riesgo de deserción y alimente un sistema de alerta temprana para instituciones educativas.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0" y="38404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Regresión Logística · Árbol de Decisión · Random Forest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 y Beneficiarios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188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variables académicas, socioeconómicas y conductuales relevantes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Recolectar, limpiar y transformar el dataset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 comparar modelos de clasificación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prototipo del sistema de alerta temprana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46634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Reflexionar sobre sesgos e implicaciones éticas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23444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Beneficiarios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63840" y="20116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en riesgo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y orientadores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Directivos institucionales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y comunidades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educativo nacional (MINERD)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El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4,462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válidos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(tras limpieza)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11887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70/15/15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15400" y="2148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más correlacionadas con la deserción (Spearman)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657600"/>
          <a:ext cx="11064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Análisis Exploratorio (EDA)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Detectados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 (3.2% / 1.8%) → imputación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registros duplicados → eliminados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asistencia (&gt;100%) → capping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inconsistente de género → estandarizada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18872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Promedio: Desertores vs. No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0" y="1920240"/>
          <a:ext cx="3383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18872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03920" y="1417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Aplicadas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03920" y="19659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(variables numéricas)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(nominales)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ordinal (socioeconómico, etc.)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para balanceo de clases (60/40)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Comparación de Modelos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14300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Final: Random Forest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0" y="19659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0.921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(deserción): 88.1%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78.3%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de Cohen: 0.731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árboles, profundidad máx. 10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de Variables (Random Forest)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1430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Predictores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412480" y="19659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asistencia (27.3%)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calificaciones (22.1%)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Reprobaciones previas (16.8%)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0" y="39319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tres variables explican el 66.2% de la capacidad predictiva del modelo.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Sistema de Alerta Temprana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probabilidades del modelo se traducen en tres niveles de riesgo accionables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783080"/>
            <a:ext cx="731520" cy="731520"/>
          </a:xfrm>
          <a:prstGeom prst="ellipse">
            <a:avLst/>
          </a:prstGeom>
          <a:solidFill>
            <a:srgbClr val="5EC9B5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0% – 30%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BAJO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rutinario trimestral por el docente tutor.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7830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30% – 60%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MEDIO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 la familia y diseño de plan de apoyo por el orientador escolar.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55480" y="178308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60% – 100%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ALTO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2461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inmediata del equipo multidisciplinario (dirección + psicología).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y Discusión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 (Test, n=669)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493776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1783080"/>
                <a:gridCol w="17830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Predicho: 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Predicho: Sí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Real: No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(VN)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C9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(FP)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Real: Sí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(FN)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(VP)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C9B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526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16 estudiantes en riesgo real no fueron detectados (Falsos Negativos).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1887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Clave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7960" y="19659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supera benchmarks de la literatura (AUC 0.92 vs. 0.84 reportado)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centro de 500 estudiantes (100 en riesgo) detectaría a 88 con solo 13 falsas alarmas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Falsos Negativos suelen tener buena asistencia pero alta vulnerabilidad socioeconómica no capturada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incorporar indicadores de bienestar socioemocional en futuras versiones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Riesgos Éticos Identificados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371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Sesgo por Zona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Falsos Positivos del 8.1% en zona rural vs. 4.2% en zona urbana.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0" y="14173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371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Sesgo por Género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85.3% (M) vs. 91.2% (F): patrones de deserción no homogéneos.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520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Profecía Autocumplida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114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a un estudiante como 'alto riesgo' puede generar expectativas negativas.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33756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3520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 de Datos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4114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sensibles requieren consentimiento informado y marcos legales claros.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Responsable: Recomendaciones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rgbClr val="5EC9B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una herramienta de apoyo, NO de decisión final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148840"/>
            <a:ext cx="411480" cy="411480"/>
          </a:xfrm>
          <a:prstGeom prst="ellipse">
            <a:avLst/>
          </a:prstGeom>
          <a:solidFill>
            <a:srgbClr val="5EC9B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alerta debe ser validada por un orientador humano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926080"/>
            <a:ext cx="411480" cy="411480"/>
          </a:xfrm>
          <a:prstGeom prst="ellipse">
            <a:avLst/>
          </a:prstGeom>
          <a:solidFill>
            <a:srgbClr val="5EC9B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8346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no se comunican directamente a estudiantes/familias sin mediación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03320"/>
            <a:ext cx="411480" cy="411480"/>
          </a:xfrm>
          <a:prstGeom prst="ellipse">
            <a:avLst/>
          </a:prstGeom>
          <a:solidFill>
            <a:srgbClr val="5EC9B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611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anual para detectar 'concept drift' y sesgos emergentes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642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480560"/>
            <a:ext cx="411480" cy="411480"/>
          </a:xfrm>
          <a:prstGeom prst="ellipse">
            <a:avLst/>
          </a:prstGeom>
          <a:solidFill>
            <a:srgbClr val="5EC9B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reclamación para clasificaciones erróneas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Trabajo Futuro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viable y ético construir un modelo predictivo de deserción con alto desempeño (AUC=0.92)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asistencia, el promedio y las reprobaciones son los mejores predictores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alertas (verde/amarillo/rojo) es operativamente claro y adoptable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potencia, no reemplaza, el juicio docente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1887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datos institucionales reales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local con SHAP values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integrada al sistema de gestión escolar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análisis a deserción universitaria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F6E84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743200"/>
            <a:ext cx="4572000" cy="4572000"/>
          </a:xfrm>
          <a:prstGeom prst="ellipse">
            <a:avLst/>
          </a:prstGeom>
          <a:solidFill>
            <a:srgbClr val="5EC9B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E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Preguntas, Cierre y Retroalimentación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6118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“Integrar conocimiento, técnica y ética es el verdadero desafío en el desarrollo de soluciones basadas en IA.”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Predictivo de Deserción Escolar</dc:title>
  <dc:subject>PptxGenJS Presentation</dc:subject>
  <dc:creator>Estudiante - Maestría IA</dc:creator>
  <cp:lastModifiedBy>Estudiante - Maestría IA</cp:lastModifiedBy>
  <cp:revision>1</cp:revision>
  <dcterms:created xsi:type="dcterms:W3CDTF">2026-06-11T00:29:49Z</dcterms:created>
  <dcterms:modified xsi:type="dcterms:W3CDTF">2026-06-11T00:29:49Z</dcterms:modified>
</cp:coreProperties>
</file>